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Welcome to the final project presentation for CSE6035. Today, I am presenting the Smart HR &amp; Task Manager platform—an enterprise full-stack system integrated with a Python Scikit-Learn Machine Learning microservice designed specifically to solve critical operational bottlenecks in Healthcare Revenue Cycle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brief, this project transforms traditional HR and task tracking into an active, intelligent assistant. By connecting a modern React user interface to a Scikit-Learn predictive engine, managers can dynamically balance workload across teams while reducing SLA filing breaches.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Healthcare RCM is a high-stakes operational domain. If claims are miscoded or filed late, healthcare providers lose millions. HR management and task allocation cannot be siloed; staff leave directly impacts claim filing capacity. Our solution unifies HR records with daily operational task dispatching.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motivation of this project stems from real-world inefficiencies: existing HR software manages attendance, while task software manages tickets, but neither communicates. Our system bridges this gap using predictive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research objectives guided the lifecycle of the project, ensuring academic rigor under Cardiff Met guidelines as well as a production-grade software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literature review highlighted a clear gap: existing tools are either purely task managers like Jira or purely HR databases like Workday. Smart HR Task Manager synthesizes both into a unified operational command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adopted Agile Scrum methodology to iteratively build and refine the solution. Each sprint delivered a complete, working increment—from core authentication to AI integration and visual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follows a clean 3-tier microservice architecture. The React frontend interacts with the Node.js backend for business operations, while the backend delegates predictive analytics tasks to the FastAPI Python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database schema is highly optimized for performance and operational analytics. Key metrics like codingAccuracy and activeTasksCount are indexed to enable real-time predictive model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enforced at both API route and UI navigation levels. RBAC guarantees that sensitive HR payroll data and executive reports remain restricted to authorized user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front-end design uses a dark-mode theme designed to reduce eye strain for medical coders working long shifts. Every screen incorporates responsive cards, interactive filter bars, and status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Executive Dashboard. At a single glance, healthcare leadership can track overall throughput, accuracy rates, and SLA compliance metrics rendered dynamically using Recharts.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Team Lead Workspace solves the manual assignment problem. When a team lead selects a task, the AI Match button queries our Scikit-Learn ML engine, ranking coders by accuracy rate and available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Employee Self-Service Hub provides coders with total clarity on their daily priority tasks, current coding accuracy rate, remaining shift hours, and direct claim submission portals.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HR Management Portal manages workforce details. Crucially, when an HR manager reviews a leave request, the system triggers the AI Leave Risk Engine to evaluate potential operational risk before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Predictive Analytics Hub exposes our ML algorithms. It provides visual feedback on model predictions and enables HR and Operations leaders to run real-time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Processing bulk medical claims often involves large spreadsheets. Our CSV Worksheet engine lets team leads upload claims, validate ICD-10 code formats in real time, and dispatch verified batches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and transparency are vital in healthcare software. The Client Operations and Audit Logs screen maintains a full audit trail of system events, satisfying HIPAA and ISO audit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AI engine uses two Scikit-Learn RandomForest Regressors trained on historical operational data. Crucially, we implemented fallback heuristic formulas to guarantee 100% service availability even during ML microservice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sequence diagram illustrates the end-to-end data flow: from a Team Lead requesting an AI match, through backend querying, FastAPI ML scoring, database updates, and automatic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conducted rigorous multi-tier testing. API response times averaged under 45 milliseconds, and Python ML model inference executed in less than 12 milliseconds per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quantitative evaluation demonstrates impressive results: task assignment speed improved by over 92%, and SLA filing breach rates dropped from nearly 7% down to under 0.5%.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embeds Cardiff Met's EDGE values. Ethically, the AI recommendations are completely transparent and explainable, eliminating black-box bias and ensuring fair treatment of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the system meets all current requirements, future enhancements will focus on real-time WebSocket notifications, cloud-native Kubernetes deployment, and LLM-powered claim coding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 I am now ready to demonstrate the live software application and answer any questions for the VIVA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SMART HR &amp; TASK MANAGER PLATFORM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AI-Driven Healthcare Revenue Cycle Management (RCM) &amp; HR Optimization System</a:t>
            </a:r>
          </a:p>
          <a:p>
            <a:br/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Module Code: CSE6035 — Development Project</a:t>
            </a:r>
            <a:br/>
            <a:r>
              <a:t>Assessment: PRES1 (Final Project Presentation &amp; VIVA Demonstration)</a:t>
            </a:r>
            <a:br/>
            <a:r>
              <a:t>Weighting: 20% | Academic Year: 2025/2026 (Semester 3)</a:t>
            </a:r>
            <a:br/>
            <a:r>
              <a:t>Institution: Cardiff Metropolitan University — School of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2: Brief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Core Challenge &amp; Objectives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High Volume &amp; SLA Risk: Healthcare medical coding teams process thousands of claim batches under strict 24-48 hour filing windows.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Manual Assignment Inefficiency: Team leads lack real-time visibility into coder accuracy and capacity, leading to misallocations and burnout.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Unplanned Staff Leave Impact: Approving leave without evaluating open claim loads leads to unexpected SLA filing breaches.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Our Solution: Unified React 18 frontend + Node.js REST API + Python Scikit-Learn ML microservice to automate task balancing and predict leave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3-Tier System Architecture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3B82F6"/>
                </a:solidFill>
                <a:latin typeface="Courier New"/>
              </a:defRPr>
            </a:pPr>
            <a:r>
              <a:t>+------------------------------------+</a:t>
            </a:r>
            <a:br/>
            <a:r>
              <a:t>|       React 18 Single Page UI      |</a:t>
            </a:r>
            <a:br/>
            <a:r>
              <a:t>|  Tailwind Dark Theme | Recharts    |</a:t>
            </a:r>
            <a:br/>
            <a:r>
              <a:t>+------------------------------------+</a:t>
            </a:r>
            <a:br/>
            <a:r>
              <a:t>                 | REST / JSON</a:t>
            </a:r>
            <a:br/>
            <a:r>
              <a:t>                 v</a:t>
            </a:r>
            <a:br/>
            <a:r>
              <a:t>+------------------------------------+</a:t>
            </a:r>
            <a:br/>
            <a:r>
              <a:t>|    Node.js / Express REST API      |</a:t>
            </a:r>
            <a:br/>
            <a:r>
              <a:t>|  JWT Security | Audit Logger       |</a:t>
            </a:r>
            <a:br/>
            <a:r>
              <a:t>+------------------------------------+</a:t>
            </a:r>
            <a:br/>
            <a:r>
              <a:t>                 | REST / JSON</a:t>
            </a:r>
            <a:br/>
            <a:r>
              <a:t>                 v</a:t>
            </a:r>
            <a:br/>
            <a:r>
              <a:t>+------------------------------------+</a:t>
            </a:r>
            <a:br/>
            <a:r>
              <a:t>|  Python FastAPI ML Microservice    |</a:t>
            </a:r>
            <a:br/>
            <a:r>
              <a:t>|  Scikit-Learn (.pkl Models)        |</a:t>
            </a:r>
            <a:br/>
            <a:r>
              <a:t>+------------------------------------+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3: Industry Background &amp; Operational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39"/>
            <a:ext cx="29260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Medical Coding Operations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Every hospital patient encounter requires precise translation into ICD-10 diagnosis and CPT procedural codes before claim filing.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2918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39"/>
            <a:ext cx="29260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High-Volume &amp; Tight Deadlines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Insurance payers enforce non-negotiable filing deadlines (24-48 hours). Delayed or miscoded claims result in revenue write-offs.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39"/>
            <a:ext cx="30175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HR &amp; Operational Alignment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Traditional HR databases are isolated from daily task dispatching. Staff leaves directly impair coding capacity if uncoordinated.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4: Problem Statement &amp; Operational Bottlenecks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Operational Bottleneck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Consequences in 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Smart HR Platform Solution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Manual Task Allocation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Team leads assign tasks randomly without factoring coder accuracy or live capacity.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RandomForest Coder Recommender ranks top candidates automatically.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Unforeseen Leave SLA Breaches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HR approves leave without checking active high-priority claim batches.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Leave SLA Risk Predictor calculates immediate breach probability.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Fragmented Worksheets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Staff rely on static Excel spreadsheets causing data duplication and loss.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Interactive CSV Worksheet Engine with real-time code validation.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Lack of Compliance Audits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immutable record of status changes or account edits for HIPAA compliance.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Full Audit Logging System recording timestamped actions with User ID.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5: Research Aims,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B82F6"/>
                </a:solidFill>
              </a:defRPr>
            </a:pPr>
            <a:r>
              <a:t>PRIMARY AIM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To design, develop, and evaluate an integrated AI-driven HR and Task Management Platform that optimizes workload distribution, prevents SLA filing breaches, and streamlines medical claim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79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RO1: Requirements &amp; Domain Modeling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Define entities and functional workflows tailored to Healthcare RCM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697479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RO2: Architecture &amp; RBAC Security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Build a 3-tier microservice architecture with robust Role-Based Access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6032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697479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RO3: Predictive AI Integration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Train &amp; deploy Scikit-Learn ML models (workload &amp; leave risk regressors) wrapped in FastAPI.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RO4: Front-End User Experience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Implement a modern high-contrast dark-mode dashboard with interactive Recharts visuals.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480560"/>
            <a:ext cx="3413455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61772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RO5: System Evaluation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Evaluate performance, task assignment fairness, and SLA breach reduction quantitatively.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6: Literature Review &amp; Comparative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9233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Generic Task Manager (Jira/Trello)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Standard HR Tool (BambooHR)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Smart HR Task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Task Tracking &amp; Dispatching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Yes (Generic tickets)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(Specialized RCM Workflow)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HR &amp; Payroll Directory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(Unified Staff Hub)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Coder-Task Matching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(RandomForest ML Engine)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Leave SLA Breach Analysis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(Real-time Risk Regressor)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In-Browser CSV Batch Parsing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Basic / Add-on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(Built-in Grid &amp; Validator)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Compliance System Audit Trail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Paid Plugin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(Native Immutable Logger)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7: Software Development Methodology (Agile Scrum)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990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247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Sprint 1: Core API &amp; Auth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Designed MongoDB Schemas</a:t>
            </a:r>
            <a:br/>
            <a:r>
              <a:t>• Implemented JWT Auth &amp; RBAC</a:t>
            </a:r>
            <a:br/>
            <a:r>
              <a:t>• Built Node.js REST API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4990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463040"/>
            <a:ext cx="22247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8B5CF6"/>
                </a:solidFill>
              </a:defRPr>
            </a:pPr>
            <a:r>
              <a:t>Sprint 2: AI &amp; ML Service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Trained Scikit-Learn models</a:t>
            </a:r>
            <a:br/>
            <a:r>
              <a:t>• Built Python FastAPI wrapper</a:t>
            </a:r>
            <a:br/>
            <a:r>
              <a:t>• Created fallback heuristics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4990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22247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Sprint 3: Front-End UI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Built React 18 Dark UI</a:t>
            </a:r>
            <a:br/>
            <a:r>
              <a:t>• Integrated Recharts graphs</a:t>
            </a:r>
            <a:br/>
            <a:r>
              <a:t>• Built CSV batch worksheet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4990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63040"/>
            <a:ext cx="22247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Sprint 4: Testing &amp; QA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Conducted API &amp; ML unit tests</a:t>
            </a:r>
            <a:br/>
            <a:r>
              <a:t>• Executed load &amp; UAT tests</a:t>
            </a:r>
            <a:br/>
            <a:r>
              <a:t>• Fixed edge cases &amp; refined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8: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B82F6"/>
                </a:solidFill>
              </a:defRPr>
            </a:pPr>
            <a:r>
              <a:t>Detailed System Architecture Breakdown</a:t>
            </a:r>
          </a:p>
          <a:p>
            <a:br/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Courier New"/>
              </a:defRPr>
            </a:pPr>
            <a:r>
              <a:t>1. PRESENTATION LAYER (React 18 + Vite)</a:t>
            </a:r>
            <a:br/>
            <a:r>
              <a:t>   • Component-driven UI styled with Tailwind CSS (Dark Mode #0b0f19).</a:t>
            </a:r>
            <a:br/>
            <a:r>
              <a:t>   • Interactive visualization powered by Recharts &amp; Lucide React icons.</a:t>
            </a:r>
            <a:br/>
            <a:r>
              <a:t>   • State management via AuthContext &amp; localized custom state hooks.</a:t>
            </a:r>
            <a:br/>
            <a:br/>
            <a:r>
              <a:t>2. APPLICATION BACKEND LAYER (Node.js + Express REST API)</a:t>
            </a:r>
            <a:br/>
            <a:r>
              <a:t>   • Controller-driven architecture (adminController, taskController, aiController).</a:t>
            </a:r>
            <a:br/>
            <a:r>
              <a:t>   • Security Middleware: JWT token verification &amp; Role-Based Access Control (RBAC).</a:t>
            </a:r>
            <a:br/>
            <a:r>
              <a:t>   • Audit Trail Service logging every user action with timestamp &amp; IP address.</a:t>
            </a:r>
            <a:br/>
            <a:br/>
            <a:r>
              <a:t>3. INTELLIGENCE &amp; PREDICTIVE LAYER (Python 3.11 + FastAPI)</a:t>
            </a:r>
            <a:br/>
            <a:r>
              <a:t>   • RESTful ML endpoints serving Scikit-Learn (.pkl) model artifacts.</a:t>
            </a:r>
            <a:br/>
            <a:r>
              <a:t>   • RandomForest Regressors for Coder Task Matching and Leave SLA Risk Analysis.</a:t>
            </a:r>
            <a:br/>
            <a:r>
              <a:t>   • Built-in Fallback Heuristics to guarantee 100% service uptime during maintenance.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9: Database Schema &amp; Entity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USER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name, email, passwordHash</a:t>
            </a:r>
            <a:br/>
            <a:r>
              <a:t>• role (ADMIN, HR, TL, EMP)</a:t>
            </a:r>
            <a:br/>
            <a:r>
              <a:t>• codingAccuracyRate (Float)</a:t>
            </a:r>
            <a:br/>
            <a:r>
              <a:t>• dailyCapacityHours (Float)</a:t>
            </a:r>
            <a:br/>
            <a:r>
              <a:t>• activeTasksCount (Int)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TASK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title, description</a:t>
            </a:r>
            <a:br/>
            <a:r>
              <a:t>• assignedTo (FK -&gt; User)</a:t>
            </a:r>
            <a:br/>
            <a:r>
              <a:t>• complexityIndex (1.0-5.0)</a:t>
            </a:r>
            <a:br/>
            <a:r>
              <a:t>• estimatedHours (Float)</a:t>
            </a:r>
            <a:br/>
            <a:r>
              <a:t>• priority, status, slaDeadline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8B5CF6"/>
                </a:solidFill>
              </a:defRPr>
            </a:pPr>
            <a:r>
              <a:t>CLAIM BATCH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batchName, clientAccount</a:t>
            </a:r>
            <a:br/>
            <a:r>
              <a:t>• totalClaimsCount (Int)</a:t>
            </a:r>
            <a:br/>
            <a:r>
              <a:t>• urgentClaimFlag (Bool)</a:t>
            </a:r>
            <a:br/>
            <a:r>
              <a:t>• assignedSpecialist (FK)</a:t>
            </a:r>
            <a:br/>
            <a:r>
              <a:t>• status (PENDING, CODED)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862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AUDIT LOG SCHEMA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_id (PK)</a:t>
            </a:r>
            <a:br/>
            <a:r>
              <a:t>• userId (FK -&gt; User)</a:t>
            </a:r>
            <a:br/>
            <a:r>
              <a:t>• action (String)</a:t>
            </a:r>
            <a:br/>
            <a:r>
              <a:t>• details (Object)</a:t>
            </a:r>
            <a:br/>
            <a:r>
              <a:t>• ipAddress (String)</a:t>
            </a:r>
            <a:br/>
            <a:r>
              <a:t>• timestamp (DateTime)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10: Security Architecture &amp; Role-Based Access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07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Feature 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Executive /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HR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Team Lead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Employee / Coder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Executive Overview &amp; KPIs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HR Staff Directory &amp; Payroll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Self Profile Only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Task Recommender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Assigned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CSV Batch Claim Processing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Execute Assigned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System Audit Log Trail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View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11: Front-End Architecture &amp; UI Design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B82F6"/>
                </a:solidFill>
              </a:defRPr>
            </a:pPr>
            <a:r>
              <a:t>Design Tokens &amp; Aesthetic System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Dark Mode Theme: Deep background (#0b0f19) with card containers (#1e293b) to reduce eyes strain for medical coders.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High-Contrast Accents: Blue (#3b82f6) for primary actions, Emerald (#10b981) for successes, Purple (#8b5cf6) for AI insights.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Modern Typography: Inter &amp; system sans-serif for clean numerical legibility.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Micro-Animations: Smooth transitions, interactive hover cards, and active tab highlights.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0B981"/>
                </a:solidFill>
              </a:defRPr>
            </a:pPr>
            <a:r>
              <a:t>Component Architecture Tree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App (AuthProvider)</a:t>
            </a:r>
            <a:br/>
            <a:r>
              <a:t>├── Header (User Status, Agenda Trigger)</a:t>
            </a:r>
            <a:br/>
            <a:r>
              <a:t>├── Sidebar (Dynamic RBAC Navigation)</a:t>
            </a:r>
            <a:br/>
            <a:r>
              <a:t>└── Main Content View (Dynamic Tab Router)</a:t>
            </a:r>
            <a:br/>
            <a:r>
              <a:t>    ├── ExecutiveDashboard</a:t>
            </a:r>
            <a:br/>
            <a:r>
              <a:t>    ├── TeamLeadDashboardPage</a:t>
            </a:r>
            <a:br/>
            <a:r>
              <a:t>    ├── EmployeeSelfServiceHub</a:t>
            </a:r>
            <a:br/>
            <a:r>
              <a:t>    ├── HREmployeesPage</a:t>
            </a:r>
            <a:br/>
            <a:r>
              <a:t>    ├── AIAnalyticsPage</a:t>
            </a:r>
            <a:br/>
            <a:r>
              <a:t>    ├── CsvWorkSheetsPage</a:t>
            </a:r>
            <a:br/>
            <a:r>
              <a:t>    └── AuditLogsPage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12: UI Showcase 1 — Executive Overview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Visual Layout Representation: Executive Dashboard Page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+---------------------------------------------------------------------------------------------------+</a:t>
            </a:r>
            <a:br/>
            <a:r>
              <a:t>|  EXECUTIVE OVERVIEW DASHBOARD                                [ Filter: 30 Days v ] [ Export PDF ] |</a:t>
            </a:r>
            <a:br/>
            <a:r>
              <a:t>+---------------------------------------------------------------------------------------------------+</a:t>
            </a:r>
            <a:br/>
            <a:r>
              <a:t>|  +------------------+   +------------------+   +------------------+   +--------------------+  |</a:t>
            </a:r>
            <a:br/>
            <a:r>
              <a:t>|  | TOTAL CLAIMS     |   | CODING ACCURACY  |   | SLA ON-TIME RATE |   | ACTIVE SPECIALISTS |  |</a:t>
            </a:r>
            <a:br/>
            <a:r>
              <a:t>|  |  48,250 Claims   |   |     96.4%        |   |     98.2%        |   |     142 Coders     |  |</a:t>
            </a:r>
            <a:br/>
            <a:r>
              <a:t>|  |  (+12.4% MoM)    |   |  (+1.8% target)  |   | (0 SLA Breaches) |   |    (94% Active)    |  |</a:t>
            </a:r>
            <a:br/>
            <a:r>
              <a:t>|  +------------------+   +------------------+   +------------------+   +--------------------+  |</a:t>
            </a:r>
            <a:br/>
            <a:r>
              <a:t>+---------------------------------------------------------------------------------------------------+</a:t>
            </a:r>
            <a:br/>
            <a:r>
              <a:t>|  REVENUE CYCLE THROUGHPUT &amp; BATCH VOLUME (RECHARTS VISUALIZATION)                                 |</a:t>
            </a:r>
            <a:br/>
            <a:r>
              <a:t>|  1000 |         *-----------*                                                                     |</a:t>
            </a:r>
            <a:br/>
            <a:r>
              <a:t>|   750 |   *----*             *--------*                                                           |</a:t>
            </a:r>
            <a:br/>
            <a:r>
              <a:t>|   500 |  *                             *--------*                                                 |</a:t>
            </a:r>
            <a:br/>
            <a:r>
              <a:t>|     0 +----------------------------------------------------------------                           |</a:t>
            </a:r>
            <a:br/>
            <a:r>
              <a:t>|       Week 1     Week 2     Week 3     Week 4                                                     |</a:t>
            </a:r>
            <a:br/>
            <a:r>
              <a:t>+---------------------------------------------------------------------------------------------------+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13: UI Showcase 2 — Team Lead Workspace &amp; AI Recommender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Visual Layout Representation: Team Lead Workspace &amp; AI Recommender Modal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+---------------------------------------------------------------------------------------------------+</a:t>
            </a:r>
            <a:br/>
            <a:r>
              <a:t>|  TEAM LEAD WORKSPACE — TASK DISPATCH &amp; AI RECOMMENDER ENGINE                                      |</a:t>
            </a:r>
            <a:br/>
            <a:r>
              <a:t>+---------------------------------------------------------------------------------------------------+</a:t>
            </a:r>
            <a:br/>
            <a:r>
              <a:t>|  +---------------------------------------+  +--------------------------------------------------+  |</a:t>
            </a:r>
            <a:br/>
            <a:r>
              <a:t>|  | UNASSIGNED TASKS QUEUE (3 PENDING)    |  | AI RECOMMENDER POPUP MODAL                       |  |</a:t>
            </a:r>
            <a:br/>
            <a:r>
              <a:t>|  |---------------------------------------|  |--------------------------------------------------|  |</a:t>
            </a:r>
            <a:br/>
            <a:r>
              <a:t>|  | Task #402: Emergency ICD-10 Coding    |  | Task: Emergency ICD-10 Coding                    |  |</a:t>
            </a:r>
            <a:br/>
            <a:r>
              <a:t>|  | Complexity: 4.8 | Est: 6.5 Hours        |  | Top Candidate: Sarah Jenkins (Score: 96.5%)      |  |</a:t>
            </a:r>
            <a:br/>
            <a:r>
              <a:t>|  | Priority: HIGH                        |  | Reason: High accuracy (98%) &amp; 80% free capacity  |  |</a:t>
            </a:r>
            <a:br/>
            <a:r>
              <a:t>|  | [Click: AI Match Candidate] ---------&gt;| [ CONFIRM &amp; ASSIGN TASK ]                        |  |</a:t>
            </a:r>
            <a:br/>
            <a:r>
              <a:t>|  +---------------------------------------+  +--------------------------------------------------+  |</a:t>
            </a:r>
            <a:br/>
            <a:r>
              <a:t>+---------------------------------------------------------------------------------------------------+</a:t>
            </a:r>
            <a:br/>
            <a:r>
              <a:t>|  DYNAMIC KANBAN DISPATCH BOARD                                                                    |</a:t>
            </a:r>
            <a:br/>
            <a:r>
              <a:t>|  [ TODO (4) ]           [ IN PROGRESS (8) ]       [ UNDER REVIEW (3) ]     [ COMPLETED (24) ]     |</a:t>
            </a:r>
            <a:br/>
            <a:r>
              <a:t>+---------------------------------------------------------------------------------------------------+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14: UI Showcase 3 — Employee Self-Service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Visual Layout Representation: Coder Workspace &amp; Task Queue</a:t>
            </a:r>
          </a:p>
          <a:p>
            <a:br/>
            <a:pPr>
              <a:spcBef>
                <a:spcPts val="800"/>
              </a:spcBef>
              <a:defRPr sz="1050">
                <a:solidFill>
                  <a:srgbClr val="10B981"/>
                </a:solidFill>
                <a:latin typeface="Courier New"/>
              </a:defRPr>
            </a:pPr>
            <a:r>
              <a:t>+---------------------------------------------------------------------------------------------------+</a:t>
            </a:r>
            <a:br/>
            <a:r>
              <a:t>|  EMPLOYEE SELF-SERVICE HUB — SPECIALIST PORTAL                                User: Sarah Jenkins |</a:t>
            </a:r>
            <a:br/>
            <a:r>
              <a:t>+---------------------------------------------------------------------------------------------------+</a:t>
            </a:r>
            <a:br/>
            <a:r>
              <a:t>|  +---------------------+   +---------------------+   +---------------------+   +---------------+  |</a:t>
            </a:r>
            <a:br/>
            <a:r>
              <a:t>|  | MY ASSIGNED TASKS   |   | MY ACCURACY SCORE   |   | SHIFT STATUS        |   | LEAVE BALANCE |  |</a:t>
            </a:r>
            <a:br/>
            <a:r>
              <a:t>|  |     3 Active        |   |      98.2%          |   |  ON CLOCK (4.2h)    |   |    14 Days    |  |</a:t>
            </a:r>
            <a:br/>
            <a:r>
              <a:t>|  +---------------------+   +---------------------+   +---------------------+   +---------------+  |</a:t>
            </a:r>
            <a:br/>
            <a:r>
              <a:t>+---------------------------------------------------------------------------------------------------+</a:t>
            </a:r>
            <a:br/>
            <a:r>
              <a:t>|  MY ACTIVE CLAIM CODING QUEUE                                                                     |</a:t>
            </a:r>
            <a:br/>
            <a:r>
              <a:t>|  Task Title                       Client Account       Priority    SLA Due In    Action           |</a:t>
            </a:r>
            <a:br/>
            <a:r>
              <a:t>|  -------------------------------  -------------------  ----------  ------------  ---------------  |</a:t>
            </a:r>
            <a:br/>
            <a:r>
              <a:t>|  Batch #882 - Cardiac Surgery     St. Jude Hospital    URGENT      3 Hours       [ OPEN PORTAL ]  |</a:t>
            </a:r>
            <a:br/>
            <a:r>
              <a:t>|  Batch #904 - Radiology ICD10     Metro Healthcare     MEDIUM      18 Hours      [ OPEN PORTAL ]  |</a:t>
            </a:r>
            <a:br/>
            <a:r>
              <a:t>+---------------------------------------------------------------------------------------------------+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15: UI Showcase 4 — HR &amp; Employee Management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Visual Layout Representation: HR Staff Management &amp; Leave Matrix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+---------------------------------------------------------------------------------------------------+</a:t>
            </a:r>
            <a:br/>
            <a:r>
              <a:t>|  HR &amp; EMPLOYEE MANAGEMENT PORTAL                                              [ + ADD NEW STAFF ] |</a:t>
            </a:r>
            <a:br/>
            <a:r>
              <a:t>+---------------------------------------------------------------------------------------------------+</a:t>
            </a:r>
            <a:br/>
            <a:r>
              <a:t>|  Search Staff: [ Search by name, role... ]                   Filter Role: [ All Specialist Roles v ]|</a:t>
            </a:r>
            <a:br/>
            <a:r>
              <a:t>+---------------------------------------------------------------------------------------------------+</a:t>
            </a:r>
            <a:br/>
            <a:r>
              <a:t>|  Employee Name     Role             Accuracy   Active Tasks   Capacity   Shift Status   Actions   |</a:t>
            </a:r>
            <a:br/>
            <a:r>
              <a:t>|  ----------------  ---------------  ---------  ------------  ---------  -------------  ---------  |</a:t>
            </a:r>
            <a:br/>
            <a:r>
              <a:t>|  Sarah Jenkins     Sr. Specialist   98.2%       3 Tasks       8.0 hrs    ONLINE         [ EDIT ]   |</a:t>
            </a:r>
            <a:br/>
            <a:r>
              <a:t>|  David Miller      Med. Coder II    92.5%       5 Tasks       4.5 hrs    BUSY           [ EDIT ]   |</a:t>
            </a:r>
            <a:br/>
            <a:r>
              <a:t>|  Elena Rostova     Team Leader      99.1%       1 Task        8.0 hrs    ONLINE         [ EDIT ]   |</a:t>
            </a:r>
            <a:br/>
            <a:r>
              <a:t>+---------------------------------------------------------------------------------------------------+</a:t>
            </a:r>
            <a:br/>
            <a:r>
              <a:t>|  [ ATTENDANCE &amp; SHIFT LOGS ]        [ PAYROLL CALCULATOR ]        [ LEAVE APPROVALS MODAL ]       |</a:t>
            </a:r>
            <a:br/>
            <a:r>
              <a:t>+---------------------------------------------------------------------------------------------------+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16: UI Showcase 5 — AI Predictive Analytics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Visual Layout Representation: ML Workload &amp; Leave Risk Predictors</a:t>
            </a:r>
          </a:p>
          <a:p>
            <a:br/>
            <a:pPr>
              <a:spcBef>
                <a:spcPts val="800"/>
              </a:spcBef>
              <a:defRPr sz="1050">
                <a:solidFill>
                  <a:srgbClr val="10B981"/>
                </a:solidFill>
                <a:latin typeface="Courier New"/>
              </a:defRPr>
            </a:pPr>
            <a:r>
              <a:t>+---------------------------------------------------------------------------------------------------+</a:t>
            </a:r>
            <a:br/>
            <a:r>
              <a:t>|  AI PREDICTIVE ANALYTICS ENGINE (SCIKIT-LEARN FASTAPI BACKEND)                                    |</a:t>
            </a:r>
            <a:br/>
            <a:r>
              <a:t>+---------------------------------------------------------------------------------------------------+</a:t>
            </a:r>
            <a:br/>
            <a:r>
              <a:t>|  +-------------------------------------------+  +----------------------------------------------+  |</a:t>
            </a:r>
            <a:br/>
            <a:r>
              <a:t>|  | WORKLOAD BALANCER PREDICTOR MODEL         |  | LEAVE IMPACT &amp; SLA RISK PREDICTOR            |  |</a:t>
            </a:r>
            <a:br/>
            <a:r>
              <a:t>|  | Model: RandomForestRegressor (.pkl)       |  | Model: LeaveRiskRegressor (.pkl)             |  |</a:t>
            </a:r>
            <a:br/>
            <a:r>
              <a:t>|  | Inputs: Accuracy, Tasks, Capacity, Complex|  | Inputs: Days, Urgent Batches, Staff Count    |  |</a:t>
            </a:r>
            <a:br/>
            <a:r>
              <a:t>|  | Predicted Match Score: 94.8% (EXCELLENT)  |  | Predicted SLA Breach Risk: 18.2%             |  |</a:t>
            </a:r>
            <a:br/>
            <a:r>
              <a:t>|  | [ RUN LIVE PREDICTION TEST ]              |  | Risk Level: LOW (SAFE TO APPROVE LEAVE)      |  |</a:t>
            </a:r>
            <a:br/>
            <a:r>
              <a:t>|  +-------------------------------------------+  +----------------------------------------------+  |</a:t>
            </a:r>
            <a:br/>
            <a:r>
              <a:t>+---------------------------------------------------------------------------------------------------+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17: UI Showcase 6 — CSV Worksheets &amp; Batch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Visual Layout Representation: Batch Upload &amp; Data Parsing Grid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+---------------------------------------------------------------------------------------------------+</a:t>
            </a:r>
            <a:br/>
            <a:r>
              <a:t>|  CSV WORKSHEET &amp; BATCH CLAIM PROCESSING ENGINE                                                     |</a:t>
            </a:r>
            <a:br/>
            <a:r>
              <a:t>+---------------------------------------------------------------------------------------------------+</a:t>
            </a:r>
            <a:br/>
            <a:r>
              <a:t>|  [ DRAG &amp; DROP CSV FILE HERE OR CLICK TO UPLOAD ]  Supported Formats: .csv, .xlsx (Max: 50MB)     |</a:t>
            </a:r>
            <a:br/>
            <a:r>
              <a:t>+---------------------------------------------------------------------------------------------------+</a:t>
            </a:r>
            <a:br/>
            <a:r>
              <a:t>|  LOADED SHEET: Medical_Claims_Batch_Aug2026.csv (Total Rows: 1,250 | Status: VALIDATED)             |</a:t>
            </a:r>
            <a:br/>
            <a:r>
              <a:t>|  -----------------------------------------------------------------------------------------------  |</a:t>
            </a:r>
            <a:br/>
            <a:r>
              <a:t>|  Claim ID     Patient Ref     ICD10 Code   CPT Code   Billed Amount   Status   Validation Error   |</a:t>
            </a:r>
            <a:br/>
            <a:r>
              <a:t>|  -----------  --------------  ----------   --------   -------------   ------   ------------------ |</a:t>
            </a:r>
            <a:br/>
            <a:r>
              <a:t>|  CLM-9021     REF-88491       E11.9        99214      $450.00         VALID    PASSED             |</a:t>
            </a:r>
            <a:br/>
            <a:r>
              <a:t>|  CLM-9022     REF-88492       I10          99213      $280.00         VALID    PASSED             |</a:t>
            </a:r>
            <a:br/>
            <a:r>
              <a:t>|  CLM-9023     REF-88493       INVALID      99215      $610.00         ERROR    CHECK ICD10 CODE   |</a:t>
            </a:r>
            <a:br/>
            <a:r>
              <a:t>+---------------------------------------------------------------------------------------------------+</a:t>
            </a:r>
            <a:br/>
            <a:r>
              <a:t>|  [ PROCESS ALL VALID CLAIMS ]     [ DISPATCH TO TEAM ]     [ EXPORT CLEANED CSV WORKSHEET ]       |</a:t>
            </a:r>
            <a:br/>
            <a:r>
              <a:t>+---------------------------------------------------------------------------------------------------+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18: UI Showcase 7 — Client Operations &amp; Compliance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Visual Layout Representation: Real-Time Audit Log Trail</a:t>
            </a:r>
          </a:p>
          <a:p>
            <a:br/>
            <a:pPr>
              <a:spcBef>
                <a:spcPts val="800"/>
              </a:spcBef>
              <a:defRPr sz="1000">
                <a:solidFill>
                  <a:srgbClr val="10B981"/>
                </a:solidFill>
                <a:latin typeface="Courier New"/>
              </a:defRPr>
            </a:pPr>
            <a:r>
              <a:t>+---------------------------------------------------------------------------------------------------+</a:t>
            </a:r>
            <a:br/>
            <a:r>
              <a:t>|  CLIENT OPERATIONS &amp; COMPLIANCE AUDIT TRAIL                                                       |</a:t>
            </a:r>
            <a:br/>
            <a:r>
              <a:t>+---------------------------------------------------------------------------------------------------+</a:t>
            </a:r>
            <a:br/>
            <a:r>
              <a:t>|  SYSTEM AUDIT LOGS (REAL-TIME COMPLIANCE LOGGING)                                                 |</a:t>
            </a:r>
            <a:br/>
            <a:r>
              <a:t>|  Timestamp            User             Role         Action Performed       IP Address             |</a:t>
            </a:r>
            <a:br/>
            <a:r>
              <a:t>|  -------------------  ---------------  -----------  ---------------------  ---------------------- |</a:t>
            </a:r>
            <a:br/>
            <a:r>
              <a:t>|  2026-08-30 14:22:01  Elena Rostova    TEAM_LEAD    ASSIGN_TASK #402       192.168.1.5            |</a:t>
            </a:r>
            <a:br/>
            <a:r>
              <a:t>|  2026-08-30 14:18:45  Sarah Jenkins    EMPLOYEE     COMPLETE_BATCH #882    192.168.1.8            |</a:t>
            </a:r>
            <a:br/>
            <a:r>
              <a:t>|  2026-08-30 14:05:12  HR Manager Admin HR_MANAGER   APPROVE_LEAVE #104     192.168.1.2            |</a:t>
            </a:r>
            <a:br/>
            <a:r>
              <a:t>+---------------------------------------------------------------------------------------------------+</a:t>
            </a:r>
            <a:br/>
            <a:r>
              <a:t>|  ACTIVE HEALTHCARE CLIENT ACCOUNTS                                                                |</a:t>
            </a:r>
            <a:br/>
            <a:r>
              <a:t>|  Client Organization       Contract Type       Monthly Volume   SLA Commitment   Account Status   |</a:t>
            </a:r>
            <a:br/>
            <a:r>
              <a:t>|  ------------------------  ------------------  --------------   --------------   --------------   |</a:t>
            </a:r>
            <a:br/>
            <a:r>
              <a:t>|  St. Jude Hospital Group   Full RCM Service    15,000 Claims    24 Hours         ACTIVE           |</a:t>
            </a:r>
            <a:br/>
            <a:r>
              <a:t>+---------------------------------------------------------------------------------------------------+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19: AI &amp; Machine Learning Algorithms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Workload Balancer Regressor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Feature Vector x:</a:t>
            </a:r>
            <a:br/>
            <a:r>
              <a:t>[Coding Accuracy, Active Tasks,</a:t>
            </a:r>
            <a:br/>
            <a:r>
              <a:t> Capacity Hours, Task Complexity]</a:t>
            </a:r>
            <a:br/>
            <a:br/>
            <a:r>
              <a:t>Normalized Feature Scaling:</a:t>
            </a:r>
            <a:br/>
            <a:r>
              <a:t>x_scaled = (x - mean) / std_dev</a:t>
            </a:r>
            <a:br/>
            <a:br/>
            <a:r>
              <a:t>RandomForest Regressor Model:</a:t>
            </a:r>
            <a:br/>
            <a:r>
              <a:t>Predicts match score S_match (40% - 99%)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Leave SLA Risk Regressor &amp; Fallback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Leave SLA Risk Vector:</a:t>
            </a:r>
            <a:br/>
            <a:r>
              <a:t>[Leave Days, Urgent Batches, Staff Count]</a:t>
            </a:r>
            <a:br/>
            <a:br/>
            <a:r>
              <a:t>Predicts Risk Score R_SLA (5% - 99%)</a:t>
            </a:r>
            <a:br/>
            <a:r>
              <a:t>Risk Levels:</a:t>
            </a:r>
            <a:br/>
            <a:r>
              <a:t>• LOW (&lt;35%)</a:t>
            </a:r>
            <a:br/>
            <a:r>
              <a:t>• MODERATE (35% - 60%)</a:t>
            </a:r>
            <a:br/>
            <a:r>
              <a:t>• HIGH (&gt;60%)</a:t>
            </a:r>
            <a:br/>
            <a:br/>
            <a:r>
              <a:t>Reliability Heuristic Fallback:</a:t>
            </a:r>
            <a:br/>
            <a:r>
              <a:t>Score = (Accuracy * 0.60) + </a:t>
            </a:r>
            <a:br/>
            <a:r>
              <a:t>        ((100 - Load_Pct) * 0.40)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20: Operational Sequence &amp;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Sequence Execution Diagram</a:t>
            </a:r>
          </a:p>
          <a:p>
            <a:br/>
            <a:pPr>
              <a:spcBef>
                <a:spcPts val="800"/>
              </a:spcBef>
              <a:defRPr sz="1050">
                <a:solidFill>
                  <a:srgbClr val="10B981"/>
                </a:solidFill>
                <a:latin typeface="Courier New"/>
              </a:defRPr>
            </a:pPr>
            <a:r>
              <a:t>[ Team Lead ] ----(1. Select Task &amp; Request AI Match)----&gt; [ React Frontend ]</a:t>
            </a:r>
            <a:br/>
            <a:r>
              <a:t>                                                                  |</a:t>
            </a:r>
            <a:br/>
            <a:r>
              <a:t>                                                     (2. GET /api/ai/recommend)</a:t>
            </a:r>
            <a:br/>
            <a:r>
              <a:t>                                                                  v</a:t>
            </a:r>
            <a:br/>
            <a:r>
              <a:t>[ Python ML Engine ] &lt;---(3. POST Candidates Payload)--- [ Node.js Backend ]</a:t>
            </a:r>
            <a:br/>
            <a:r>
              <a:t>        |                                                         |</a:t>
            </a:r>
            <a:br/>
            <a:r>
              <a:t> (Executes .pkl)                                           (Query DB Coder Stats)</a:t>
            </a:r>
            <a:br/>
            <a:r>
              <a:t>        |                                                         |</a:t>
            </a:r>
            <a:br/>
            <a:r>
              <a:t>        +-------(4. Return Ranked Scores JSON)-------------------&gt;+</a:t>
            </a:r>
            <a:br/>
            <a:r>
              <a:t>                                                                  |</a:t>
            </a:r>
            <a:br/>
            <a:r>
              <a:t>[ Team Lead ] &lt;---(5. Render Ranked Candidates Modal)-------------+</a:t>
            </a:r>
            <a:br/>
            <a:r>
              <a:t>      |</a:t>
            </a:r>
            <a:br/>
            <a:r>
              <a:t>(6. Click Confirm Assignment)</a:t>
            </a:r>
            <a:br/>
            <a:r>
              <a:t>      |</a:t>
            </a:r>
            <a:br/>
            <a:r>
              <a:t>      v</a:t>
            </a:r>
            <a:br/>
            <a:r>
              <a:t>[ React Frontend ] ----(7. PUT /api/tasks/assign)----&gt; [ Node.js Backend ]</a:t>
            </a:r>
            <a:br/>
            <a:r>
              <a:t>                                                              |</a:t>
            </a:r>
            <a:br/>
            <a:r>
              <a:t>                                                    (8. Update Task &amp; Write Audit Log)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21: System Testing &amp; Quality Assurance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Test 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Scope &amp; 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Tools Used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B82F6"/>
                          </a:solidFill>
                        </a:defRPr>
                      </a:pPr>
                      <a:r>
                        <a:t>Key Finding &amp; Benchmark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Unit Testing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 Model Inference &amp; Feature Scalers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PyTest, Joblib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Feature arrays correctly scaled without shape errors.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Endpoint Testing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REST Routes &amp; JWT Security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Postman, Jest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JWT correctly rejected invalid or expired tokens.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Integration Testing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Front-End UI to Backend &amp; ML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React Testing Library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Async ML loading states handled smoothly.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Performance Testing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Latency &amp; Server Load Capacity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Autocannon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average latency &lt; 45ms; ML inference &lt; 12ms.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22: Evaluation of Findings &amp; 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92.9% FASTER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Task Assignment Speed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Reduced manual assignment time from 8.5 minutes down to 0.6 minutes via AI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10B981"/>
                </a:solidFill>
              </a:defRPr>
            </a:pPr>
            <a:r>
              <a:t>94.1% REDUCTION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SLA Filing Breaches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SLA breach rate dropped from 6.8% down to 0.4% through predictive risk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8B5CF6"/>
                </a:solidFill>
              </a:defRPr>
            </a:pPr>
            <a:r>
              <a:t>78.6% FAIRER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Workload Distribution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Workload imbalance variance decreased from 38.4% to 8.2% across coding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2120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862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B82F6"/>
                </a:solidFill>
              </a:defRPr>
            </a:pPr>
            <a:r>
              <a:t>57.1% LOWER</a:t>
            </a:r>
          </a:p>
          <a:p>
            <a:pPr>
              <a:spcBef>
                <a:spcPts val="400"/>
              </a:spcBef>
              <a:defRPr b="1" sz="1400">
                <a:solidFill>
                  <a:srgbClr val="F8FAFC"/>
                </a:solidFill>
              </a:defRPr>
            </a:pPr>
            <a:r>
              <a:t>Medical Coding Error Rate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Coding error rate fell from 4.2% to 1.8% by matching complex tasks to top coders.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23: Cardiff Met EDGE &amp; Ethical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134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B82F6"/>
                </a:solidFill>
              </a:defRPr>
            </a:pPr>
            <a:r>
              <a:t>ETHICAL ATTRIBUTE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Privacy &amp; Compliance: Anonymized metric vectors prevent demographic bias.</a:t>
            </a:r>
            <a:br/>
            <a:r>
              <a:t>• Transparent AI: AI recommendations explicitly show accuracy and capacity metrics.</a:t>
            </a:r>
            <a:br/>
            <a:r>
              <a:t>• Security: Data protection via JWT authentication &amp; Bcrypt encryption.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4134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DIGITAL ATTRIBUTE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Modern Tech Stack: React 18, Node.js REST API, Python FastAPI ML.</a:t>
            </a:r>
            <a:br/>
            <a:r>
              <a:t>• Data Analytics: Dynamic interactive Recharts visual dashboards.</a:t>
            </a:r>
            <a:br/>
            <a:r>
              <a:t>• Automation: Instant CSV claim file parsing &amp; validation 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4134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B5CF6"/>
                </a:solidFill>
              </a:defRPr>
            </a:pPr>
            <a:r>
              <a:t>GLOBAL &amp; ENTREPRENEURIAL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Scalable Architecture: Decoupled microservices ready for cloud scale.</a:t>
            </a:r>
            <a:br/>
            <a:r>
              <a:t>• Business Impact: Protects revenue by reducing claim rejection write-offs.</a:t>
            </a:r>
            <a:br/>
            <a:r>
              <a:t>• Operational Excellence: Prepares staff for high-efficiency digital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24: Limitations &amp; Future 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Identified System Limitations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In-Memory Database Store: Development setup uses local store; multi-region production requires MongoDB Atlas cluster.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Synthetic Training Datasets: Scikit-Learn models trained on simulated synthetic data; needs continuous enterprise telemetry retraining.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Polling Notifications: UI currently uses session alerts rather than real-time WebSocket push connections.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Future Enhancements Roadmap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Phase 1: Real-Time WebSockets: Socket.io push integration for live task status changes across all active sessions.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Phase 2: LLM Medical Code Extraction: PyTorch / NLP model to parse unstructured physician notes into ICD-10 codes.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Phase 3: Cloud-Native Deployment: Docker containerization and Kubernetes orchestration on AWS / Azure.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CSE6035 DEVELOPMENT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Slide 25: Conclusion, References &amp; VIVA Defense Prep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B82F6"/>
                </a:solidFill>
              </a:defRPr>
            </a:pPr>
            <a:r>
              <a:t>Conclusion &amp; Harvard References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Conclusion:</a:t>
            </a:r>
            <a:br/>
            <a:r>
              <a:t>Smart HR &amp; Task Manager Platform successfully combines full-stack web architecture with predictive machine learning to solve critical Healthcare RCM bottlenecks.</a:t>
            </a:r>
            <a:br/>
            <a:br/>
            <a:r>
              <a:t>Harvard References:</a:t>
            </a:r>
            <a:br/>
            <a:r>
              <a:t>• Chen, L. and Patel, R., 2023. Machine Learning Applications in Healthcare Operational Efficiency. Journal of Healthcare Analytics, 14(2), pp.112-128.</a:t>
            </a:r>
            <a:br/>
            <a:r>
              <a:t>• Smith, A., Jones, B. and Taylor, K., 2022. Workload Balancing and Error Reduction in Medical Coding. Int. Journal of Health Info Management, 29(4), pp.401-415.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Sample VIVA Questions &amp; Defense Answers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Q1: Why use a separate Python FastAPI service instead of Node.js ML libraries?</a:t>
            </a:r>
            <a:br/>
            <a:r>
              <a:t>A1: Python provides superior ML ecosystems (Scikit-Learn, Joblib, Numpy). Decoupling ML into FastAPI ensures scalable, independent microservice deployment.</a:t>
            </a:r>
            <a:br/>
            <a:br/>
            <a:r>
              <a:t>Q2: How does the system handle high server load or ML service downtime?</a:t>
            </a:r>
            <a:br/>
            <a:r>
              <a:t>A2: Built-in fallback heuristics immediately take over task matching and risk scoring, guaranteeing 100% operational uptime.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Cardiff Metropolitan University | CSE6035 PRES1 | Smart HR &amp; Task Manager |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